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7899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A2Z MIS 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38328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1">
                <a:solidFill>
                  <a:srgbClr val="CADCFC"/>
                </a:solidFill>
                <a:latin typeface="Calibri"/>
              </a:rPr>
              <a:t>Banking Management Intelligence — Audit-Locked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0"/>
            <a:ext cx="107899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Version v8.14  ·  109 audit gates  ·  15 feedback loops (15/15 wired)  ·  6 system stocks (6/6 wired)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3504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onsolas"/>
              </a:rPr>
              <a:t>Verify any claim in this deck: python scripts/audit.py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  <a:latin typeface="Calibri"/>
              </a:rPr>
              <a:t>The strategy-execution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97280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 i="0">
                <a:solidFill>
                  <a:srgbClr val="2D3748"/>
                </a:solidFill>
                <a:latin typeface="Calibri"/>
              </a:rPr>
              <a:t>Most banks have strategy. Few have execution at the teller line.</a:t>
            </a:r>
            <a:br/>
            <a:br/>
            <a:r>
              <a:rPr sz="1800" b="0" i="0">
                <a:solidFill>
                  <a:srgbClr val="2D3748"/>
                </a:solidFill>
                <a:latin typeface="Calibri"/>
              </a:rPr>
              <a:t>Quarterly board targets do not flow to individual KPIs. Manual cascade in Excel breaks down. Staff receive feedback monthly — too late to change behaviour mid-cycle.</a:t>
            </a:r>
            <a:br/>
            <a:br/>
            <a:r>
              <a:rPr sz="1800" b="0" i="0">
                <a:solidFill>
                  <a:srgbClr val="2D3748"/>
                </a:solidFill>
                <a:latin typeface="Calibri"/>
              </a:rPr>
              <a:t>Banks run 10-15 separate systems for credit, risk, HR, finance, customer ops; each with its own truth. Audit trails are scattered. CBK reviews require manual reconstruction.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Calibri"/>
              </a:rPr>
              <a:t>A2Z MIS 360  ·  v8.14  ·  Slide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  <a:latin typeface="Calibri"/>
              </a:rPr>
              <a:t>The A2Z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3566160" cy="4114800"/>
          </a:xfrm>
          <a:prstGeom prst="rect">
            <a:avLst/>
          </a:prstGeom>
          <a:solidFill>
            <a:srgbClr val="F7FAFC"/>
          </a:solidFill>
          <a:ln w="9525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Audit-locked invariants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320040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6 defense-in-depth gates (G104-G109). Architectural rules enforced by the build. Future regressions fail the audit.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645920"/>
            <a:ext cx="3566160" cy="4114800"/>
          </a:xfrm>
          <a:prstGeom prst="rect">
            <a:avLst/>
          </a:prstGeom>
          <a:solidFill>
            <a:srgbClr val="F7FAFC"/>
          </a:solidFill>
          <a:ln w="9525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Systems-layer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51760"/>
            <a:ext cx="320040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Stocks, flows, invariants are first-class objects. Per Meadows: a system is its feedback loops. 15/15 loops wired.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80" y="1645920"/>
            <a:ext cx="3566160" cy="4114800"/>
          </a:xfrm>
          <a:prstGeom prst="rect">
            <a:avLst/>
          </a:prstGeom>
          <a:solidFill>
            <a:srgbClr val="F7FAFC"/>
          </a:solidFill>
          <a:ln w="9525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92024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Honest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51760"/>
            <a:ext cx="320040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Every artifact ends with what it does NOT claim. Roadmap items marked. ROI projections distinguished from measurements.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Calibri"/>
              </a:rPr>
              <a:t>A2Z MIS 360  ·  v8.14  ·  Slide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  <a:latin typeface="Calibri"/>
              </a:rPr>
              <a:t>Architecture — six tiers, audit-locked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64592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0020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Tier 1 — Domain engines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120 modules in utils/ — pure deterministic logic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317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Tier 2 — Systems-layer registries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6 stocks, 15 loops, invariants, 8 hard constraints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6324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Tier 3 — Audit perimeter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832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scripts/audit.py with 109 gates (G104-G109 defense-in-depth)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84048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9476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Tier 4 — Technical-grade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148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Charter + 2 retrospectives + 84 CHANGELOGs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57200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2628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Tier 5 — UI surfaces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463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4 dedicated pages + 16 enhanced pages + page 91 systems view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530352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5780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Tier 6 — Living 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57784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Sales-grade rendering with audit-locked claim validation (this artifact)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Calibri"/>
              </a:rPr>
              <a:t>A2Z MIS 360  ·  v8.14  ·  Slide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  <a:latin typeface="Calibri"/>
              </a:rPr>
              <a:t>Systems-layer — what flows 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2651760" cy="2286000"/>
          </a:xfrm>
          <a:prstGeom prst="rect">
            <a:avLst/>
          </a:prstGeom>
          <a:solidFill>
            <a:srgbClr val="F7FAFC"/>
          </a:solidFill>
          <a:ln w="9525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26517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200" b="1" i="0">
                <a:solidFill>
                  <a:srgbClr val="065A82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2D3748"/>
                </a:solidFill>
                <a:latin typeface="Calibri"/>
              </a:rPr>
              <a:t>system stocks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5760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A0AEC0"/>
                </a:solidFill>
                <a:latin typeface="Calibri"/>
              </a:rPr>
              <a:t>6/6 WIRED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28800"/>
            <a:ext cx="2651760" cy="2286000"/>
          </a:xfrm>
          <a:prstGeom prst="rect">
            <a:avLst/>
          </a:prstGeom>
          <a:solidFill>
            <a:srgbClr val="F7FAFC"/>
          </a:solidFill>
          <a:ln w="9525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011680"/>
            <a:ext cx="26517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200" b="1" i="0">
                <a:solidFill>
                  <a:srgbClr val="065A82"/>
                </a:solidFill>
                <a:latin typeface="Calibr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20040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2D3748"/>
                </a:solidFill>
                <a:latin typeface="Calibri"/>
              </a:rPr>
              <a:t>feedback loops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65760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A0AEC0"/>
                </a:solidFill>
                <a:latin typeface="Calibri"/>
              </a:rPr>
              <a:t>15/15 WIRED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828800"/>
            <a:ext cx="2651760" cy="2286000"/>
          </a:xfrm>
          <a:prstGeom prst="rect">
            <a:avLst/>
          </a:prstGeom>
          <a:solidFill>
            <a:srgbClr val="F7FAFC"/>
          </a:solidFill>
          <a:ln w="9525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011680"/>
            <a:ext cx="26517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200" b="1" i="0">
                <a:solidFill>
                  <a:srgbClr val="065A82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0040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2D3748"/>
                </a:solidFill>
                <a:latin typeface="Calibri"/>
              </a:rPr>
              <a:t>learning loops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65760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A0AEC0"/>
                </a:solidFill>
                <a:latin typeface="Calibri"/>
              </a:rPr>
              <a:t>Meadows' highest-value 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828800"/>
            <a:ext cx="2651760" cy="2286000"/>
          </a:xfrm>
          <a:prstGeom prst="rect">
            <a:avLst/>
          </a:prstGeom>
          <a:solidFill>
            <a:srgbClr val="F7FAFC"/>
          </a:solidFill>
          <a:ln w="9525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011680"/>
            <a:ext cx="26517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200" b="1" i="0">
                <a:solidFill>
                  <a:srgbClr val="065A82"/>
                </a:solidFill>
                <a:latin typeface="Calibri"/>
              </a:rPr>
              <a:t>109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20040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2D3748"/>
                </a:solidFill>
                <a:latin typeface="Calibri"/>
              </a:rPr>
              <a:t>audit 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65760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A0AEC0"/>
                </a:solidFill>
                <a:latin typeface="Calibri"/>
              </a:rPr>
              <a:t>G104-G109 defense-in-depth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72000"/>
            <a:ext cx="109728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Every loop is registered in utils/system_flows.py with explicit status, pattern, and notes. The 6-stock × 15-loop graph is the canonical model of how value flows through the bank — credit risk to capital adequacy, customer profitability to BSC scoring, channel reliability to customer alerts.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Calibri"/>
              </a:rPr>
              <a:t>A2Z MIS 360  ·  v8.14  ·  Slide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  <a:latin typeface="Calibri"/>
              </a:rPr>
              <a:t>FLEXCUBE Anti-Corruption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97280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Per Eric Evans' DDD pattern, the ACL translates FLEXCUBE field names (GROSS_OS, SEGMENT_DIST, STAGE_DIST) into A2Z's normalised vocabulary INSIDE the adapter. A2Z domain code never sees FLEXCUBE-specific names.</a:t>
            </a:r>
            <a:br/>
            <a:br/>
            <a:r>
              <a:rPr sz="1400" b="0" i="0">
                <a:solidFill>
                  <a:srgbClr val="2D3748"/>
                </a:solidFill>
                <a:latin typeface="Calibri"/>
              </a:rPr>
              <a:t>5 portfolio-aggregate methods are live in v8.0+:</a:t>
            </a:r>
            <a:br/>
            <a:r>
              <a:rPr sz="1400" b="0" i="0">
                <a:solidFill>
                  <a:srgbClr val="2D3748"/>
                </a:solidFill>
                <a:latin typeface="Calibri"/>
              </a:rPr>
              <a:t>  • /PortfolioService/Loans/Aggregate</a:t>
            </a:r>
            <a:br/>
            <a:r>
              <a:rPr sz="1400" b="0" i="0">
                <a:solidFill>
                  <a:srgbClr val="2D3748"/>
                </a:solidFill>
                <a:latin typeface="Calibri"/>
              </a:rPr>
              <a:t>  • /PortfolioService/Deposits/Aggregate</a:t>
            </a:r>
            <a:br/>
            <a:r>
              <a:rPr sz="1400" b="0" i="0">
                <a:solidFill>
                  <a:srgbClr val="2D3748"/>
                </a:solidFill>
                <a:latin typeface="Calibri"/>
              </a:rPr>
              <a:t>  • /PortfolioService/NPL/Aggregate</a:t>
            </a:r>
            <a:br/>
            <a:r>
              <a:rPr sz="1400" b="0" i="0">
                <a:solidFill>
                  <a:srgbClr val="2D3748"/>
                </a:solidFill>
                <a:latin typeface="Calibri"/>
              </a:rPr>
              <a:t>  • /CustomerService/Aggregate</a:t>
            </a:r>
            <a:br/>
            <a:r>
              <a:rPr sz="1400" b="0" i="0">
                <a:solidFill>
                  <a:srgbClr val="2D3748"/>
                </a:solidFill>
                <a:latin typeface="Calibri"/>
              </a:rPr>
              <a:t>  • /AccountService/Dormancy/Aggregate</a:t>
            </a:r>
            <a:br/>
            <a:br/>
            <a:r>
              <a:rPr sz="1400" b="0" i="0">
                <a:solidFill>
                  <a:srgbClr val="2D3748"/>
                </a:solidFill>
                <a:latin typeface="Calibri"/>
              </a:rPr>
              <a:t>Three modes — live, mock, synthetic. The 3-tier fallback (live → CBS-synthetic → demo defaults) means platform survives FLEXCUBE outages gracefully.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Calibri"/>
              </a:rPr>
              <a:t>A2Z MIS 360  ·  v8.14  ·  Slide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Resilience — per CBK Operations Resilience Guidelines (2019)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640080" cy="7772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640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Retry  ·  v8.1 + v8.8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116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3 attempts with exponential backoff (1s/3s/9s) + ±20% jitter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60320"/>
            <a:ext cx="640080" cy="7772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640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603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Circuit breaker  ·  v8.1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260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Trips OPEN after 5 consecutive failures; 60s open duration; half-open probe pattern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474720"/>
            <a:ext cx="640080" cy="7772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57600"/>
            <a:ext cx="640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74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Latency telemetry  ·  v8.2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40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Per-endpoint p50/p95/p99 over rolling 200-sample window; circuit-open suppression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389120"/>
            <a:ext cx="640080" cy="7772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640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3891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Restart-free admin  ·  v8.9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7548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reset_circuit() + replay_events() with audit trails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607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A0AEC0"/>
                </a:solidFill>
                <a:latin typeface="Calibri"/>
              </a:rPr>
              <a:t>Locked by audit gate G108 (flexcube_retry_circuit_breaker_contract).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Calibri"/>
              </a:rPr>
              <a:t>A2Z MIS 360  ·  v8.14  ·  Slide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  <a:latin typeface="Calibri"/>
              </a:rPr>
              <a:t>Observability triangle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3566160" cy="3200400"/>
          </a:xfrm>
          <a:prstGeom prst="rect">
            <a:avLst/>
          </a:prstGeom>
          <a:solidFill>
            <a:srgbClr val="F7FAFC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Calibri"/>
              </a:rPr>
              <a:t>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2D3748"/>
                </a:solidFill>
                <a:latin typeface="Calibri"/>
              </a:rPr>
              <a:t>Which path are we 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C7293"/>
                </a:solidFill>
                <a:latin typeface="Consolas"/>
              </a:rPr>
              <a:t>synthetic / mock /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8056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Calibri"/>
              </a:rPr>
              <a:t>shipped v7.10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3566160" cy="3200400"/>
          </a:xfrm>
          <a:prstGeom prst="rect">
            <a:avLst/>
          </a:prstGeom>
          <a:solidFill>
            <a:srgbClr val="F7FAFC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Calibri"/>
              </a:rPr>
              <a:t>Circuit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5176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2D3748"/>
                </a:solidFill>
                <a:latin typeface="Calibri"/>
              </a:rPr>
              <a:t>Is the path healthy?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383280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C7293"/>
                </a:solidFill>
                <a:latin typeface="Consolas"/>
              </a:rPr>
              <a:t>closed / intermittent / 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48056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Calibri"/>
              </a:rPr>
              <a:t>shipped v8.1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828800"/>
            <a:ext cx="3566160" cy="3200400"/>
          </a:xfrm>
          <a:prstGeom prst="rect">
            <a:avLst/>
          </a:prstGeom>
          <a:solidFill>
            <a:srgbClr val="F7FAFC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0116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Calibri"/>
              </a:rPr>
              <a:t>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65176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2D3748"/>
                </a:solidFill>
                <a:latin typeface="Calibri"/>
              </a:rPr>
              <a:t>How fast is the path?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383280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C7293"/>
                </a:solidFill>
                <a:latin typeface="Consolas"/>
              </a:rPr>
              <a:t>p50 / p95 / p99 per endpoint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48056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Calibri"/>
              </a:rPr>
              <a:t>shipped v8.2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864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A0AEC0"/>
                </a:solidFill>
                <a:latin typeface="Calibri"/>
              </a:rPr>
              <a:t>All three surfaces visible from page 91 systems view — no tab switching required.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Calibri"/>
              </a:rPr>
              <a:t>A2Z MIS 360  ·  v8.14  ·  Slide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065A82"/>
                </a:solidFill>
                <a:latin typeface="Calibri"/>
              </a:rPr>
              <a:t>Audit perimeter — 6-gate defense-in-depth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5394960" cy="914400"/>
          </a:xfrm>
          <a:prstGeom prst="rect">
            <a:avLst/>
          </a:prstGeom>
          <a:solidFill>
            <a:srgbClr val="F7FAFC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20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65A82"/>
                </a:solidFill>
                <a:latin typeface="Calibri"/>
              </a:rPr>
              <a:t>G104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965960"/>
            <a:ext cx="4206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Engine migration ratchet (v7.0.1)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834640"/>
            <a:ext cx="5394960" cy="914400"/>
          </a:xfrm>
          <a:prstGeom prst="rect">
            <a:avLst/>
          </a:prstGeom>
          <a:solidFill>
            <a:srgbClr val="F7FAFC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65A82"/>
                </a:solidFill>
                <a:latin typeface="Calibri"/>
              </a:rPr>
              <a:t>G105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063240"/>
            <a:ext cx="4206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Strict invariant registry usage (v7.1)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931920"/>
            <a:ext cx="5394960" cy="914400"/>
          </a:xfrm>
          <a:prstGeom prst="rect">
            <a:avLst/>
          </a:prstGeom>
          <a:solidFill>
            <a:srgbClr val="F7FAFC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65A82"/>
                </a:solidFill>
                <a:latin typeface="Calibri"/>
              </a:rPr>
              <a:t>G106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160520"/>
            <a:ext cx="4206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Loop round-trip-testability (v7.15)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1737360"/>
            <a:ext cx="5394960" cy="914400"/>
          </a:xfrm>
          <a:prstGeom prst="rect">
            <a:avLst/>
          </a:prstGeom>
          <a:solidFill>
            <a:srgbClr val="F7FAFC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874520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65A82"/>
                </a:solidFill>
                <a:latin typeface="Calibri"/>
              </a:rPr>
              <a:t>G107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1965960"/>
            <a:ext cx="4206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Stock data_source provenance (v7.15)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2834640"/>
            <a:ext cx="5394960" cy="914400"/>
          </a:xfrm>
          <a:prstGeom prst="rect">
            <a:avLst/>
          </a:prstGeom>
          <a:solidFill>
            <a:srgbClr val="F7FAFC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971800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65A82"/>
                </a:solidFill>
                <a:latin typeface="Calibri"/>
              </a:rPr>
              <a:t>G108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063240"/>
            <a:ext cx="4206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FLEXCUBE resilience + observability (v8.3)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3931920"/>
            <a:ext cx="5394960" cy="914400"/>
          </a:xfrm>
          <a:prstGeom prst="rect">
            <a:avLst/>
          </a:prstGeom>
          <a:solidFill>
            <a:srgbClr val="F7FAFC"/>
          </a:solidFill>
          <a:ln w="95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069080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65A82"/>
                </a:solidFill>
                <a:latin typeface="Calibri"/>
              </a:rPr>
              <a:t>G109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160520"/>
            <a:ext cx="4206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PUBLISHED_LANGUAGE payload_version (v8.7)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2120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Consolas"/>
              </a:rPr>
              <a:t>Run python scripts/audit.py to verify all gates pass.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F855A"/>
                </a:solidFill>
                <a:latin typeface="Calibri"/>
              </a:rPr>
              <a:t>Current state: 109/109 gates passing  ·  100.0%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Calibri"/>
              </a:rPr>
              <a:t>A2Z MIS 360  ·  v8.14  ·  Slide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  <a:latin typeface="Calibri"/>
              </a:rPr>
              <a:t>Regulatory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2F855A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CBK Operations Resilience Guidelines (2019)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2F855A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CBK Prudential Guidelines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2F855A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Data Protection Act 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2F855A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918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IFRS 9 / IFRS 7 / IFRS 16 / IFRS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2F855A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40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Basel 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4864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A0AEC0"/>
                </a:solidFill>
                <a:latin typeface="Calibri"/>
              </a:rPr>
              <a:t>Alignment is at architectural / engine level. Per-bank deployment review required for production certification.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Calibri"/>
              </a:rPr>
              <a:t>A2Z MIS 360  ·  v8.14  ·  Slide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Implementation approach — phased, audit-locked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Phase 1 — ACL bootstrap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Connect FLEXCUBE via ACL (v8.0). Verify retry + circuit + telemetry. Synthetic tier from cbs_data/ available for parallel pilot.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Phase 2 — Systems-layer wiring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Wire bank-specific stocks + flows into utils/system_stocks + system_flows. Charter §3 + §6 are the design references.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Phase 3 — UI surfacing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Page 91 systems view + 4 dedicated engine pages + admin operations. Operators see mode + circuit + latency without leaving the dashboard.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177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Phase 4 — Audit hardening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8348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Add bank-specific audit gates. The 6-gate defense-in-depth perimeter scales — banks add their own G110+ for local invariants.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Calibri"/>
              </a:rPr>
              <a:t>A2Z MIS 360  ·  v8.14  ·  Slide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  <a:latin typeface="Calibri"/>
              </a:rPr>
              <a:t>Canonical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• Donella Meadows, Thinking in Systems (2008)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• Eric Evans, Domain-Driven Design (2003)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• Michael Nygard, Release It! (2007)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• Sam Newman, Building Microservices (2015)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• CBK Operations Resilience Guidelines (2019)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86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A0AEC0"/>
                </a:solidFill>
                <a:latin typeface="Calibri"/>
              </a:rPr>
              <a:t>Internal canon: A2Z_SYSTEMS_CHARTER.md + A2Z_V7_RETROSPECTIVE.md + A2Z_V8_RETROSPECTIVE.md + A2Z_LIVING_DOCS_PLAN.md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Calibri"/>
              </a:rPr>
              <a:t>A2Z MIS 360  ·  v8.14  ·  Slide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C05621"/>
                </a:solidFill>
                <a:latin typeface="Calibri"/>
              </a:rPr>
              <a:t>What this document does 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2D3748"/>
                </a:solidFill>
                <a:latin typeface="Calibri"/>
              </a:rPr>
              <a:t>This slide is mandatory in the A2Z brochure. It enumerates what the deck deliberately does NOT claim — features that are roadmap rather than shipped, integrations that are designed but not deployed, outcomes that are projections rather than measurements.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05621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Encryption at-rest and in-transit are deployment-specific patterns; A2Z relies on host infrastructure (cloud/on-prem) for actual implementation.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05621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718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MFA is designed but not yet wired into the default login 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05621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474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SAML/OIDC SSO is roadmap, not shipped.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4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05621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9776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HSM key-management integration is bank-deployment-specific; A2Z provides hooks but not bundled HSM.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05621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805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SOC 2 and ISO 27001 are roadmap goals, not awarded certifications.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8348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05621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9834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Multi-process state (circuit breaker + latency telemetry shared across gunicorn workers / kubernetes pods) needs Redis backend; v8.x ships single-process pat...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8640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05621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4864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Most external system integrations (Salesforce, Workday, SAP, Temenos) are roadmap. v8.x deployments rely on the local A2Z Blueprint conventions.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Calibri"/>
              </a:rPr>
              <a:t>A2Z MIS 360  ·  v8.14  ·  Slide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Don't take our word for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</a:rPr>
              <a:t>Run the audit yourself. Inspect every gate. Read every CHANGELOG.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017520"/>
            <a:ext cx="10789920" cy="18288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onsolas"/>
              </a:rPr>
              <a:t>$ python scripts/audit.py</a:t>
            </a:r>
            <a:br/>
            <a:r>
              <a:rPr sz="1800" b="0" i="0">
                <a:solidFill>
                  <a:srgbClr val="CADCFC"/>
                </a:solidFill>
                <a:latin typeface="Consolas"/>
              </a:rPr>
              <a:t>  Score: 109/109 gates = 100.0% —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4864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84 per-batch CHANGELOGs document every shipped batch.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  <a:latin typeface="Calibri"/>
              </a:rPr>
              <a:t>Next steps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Read the canonical docs: charter + retrospectives in docs/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Run the audit on the version you receive: python scripts/audit.py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089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Inspect the systems-layer registries: utils/system_stocks.py + utils/system_flows.py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490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Review per-batch CHANGELOGs for the discipline pattern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38912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389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Schedule architectural review with bank's CIO + CISO + Head of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Calibri"/>
              </a:rPr>
              <a:t>A2Z MIS 360  ·  v8.14  ·  Slide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